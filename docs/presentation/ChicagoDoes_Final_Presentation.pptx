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4HCrbY8TBI1zoP/VLHv6laGX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169FAD-B0F3-462F-AEE8-E3BAE8197573}">
  <a:tblStyle styleId="{8C169FAD-B0F3-462F-AEE8-E3BAE81975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2"/>
  </p:normalViewPr>
  <p:slideViewPr>
    <p:cSldViewPr snapToGrid="0">
      <p:cViewPr varScale="1">
        <p:scale>
          <a:sx n="121" d="100"/>
          <a:sy n="121" d="100"/>
        </p:scale>
        <p:origin x="176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itle">
  <p:cSld name="Main 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0" y="280025"/>
            <a:ext cx="60960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0" y="1616869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2"/>
          </p:nvPr>
        </p:nvSpPr>
        <p:spPr>
          <a:xfrm>
            <a:off x="9525" y="3409950"/>
            <a:ext cx="63912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15"/>
          <p:cNvPicPr preferRelativeResize="0"/>
          <p:nvPr/>
        </p:nvPicPr>
        <p:blipFill rotWithShape="1">
          <a:blip r:embed="rId2">
            <a:alphaModFix amt="15000"/>
          </a:blip>
          <a:srcRect r="26252"/>
          <a:stretch/>
        </p:blipFill>
        <p:spPr>
          <a:xfrm>
            <a:off x="4876800" y="68012"/>
            <a:ext cx="4257675" cy="505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101600" y="280025"/>
            <a:ext cx="8869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2743200" y="4767263"/>
            <a:ext cx="563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4572000" y="57150"/>
            <a:ext cx="4398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">
  <p:cSld name="Section Title">
    <p:bg>
      <p:bgPr>
        <a:solidFill>
          <a:srgbClr val="F3F3F3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/>
          <p:nvPr/>
        </p:nvSpPr>
        <p:spPr>
          <a:xfrm>
            <a:off x="0" y="0"/>
            <a:ext cx="9142709" cy="5139385"/>
          </a:xfrm>
          <a:custGeom>
            <a:avLst/>
            <a:gdLst/>
            <a:ahLst/>
            <a:cxnLst/>
            <a:rect l="l" t="t" r="r" b="b"/>
            <a:pathLst>
              <a:path w="8769985" h="4758690" extrusionOk="0">
                <a:moveTo>
                  <a:pt x="8769599" y="0"/>
                </a:moveTo>
                <a:lnTo>
                  <a:pt x="0" y="0"/>
                </a:lnTo>
                <a:lnTo>
                  <a:pt x="0" y="4758600"/>
                </a:lnTo>
                <a:lnTo>
                  <a:pt x="8769599" y="4758600"/>
                </a:lnTo>
                <a:lnTo>
                  <a:pt x="8769599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2642015" y="2371695"/>
            <a:ext cx="3860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Content">
  <p:cSld name="Title and Text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101600" y="280025"/>
            <a:ext cx="8869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2743200" y="4767262"/>
            <a:ext cx="563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101284" y="895350"/>
            <a:ext cx="88698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o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2"/>
          </p:nvPr>
        </p:nvSpPr>
        <p:spPr>
          <a:xfrm>
            <a:off x="4572000" y="57150"/>
            <a:ext cx="4398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Meeting">
  <p:cSld name="Team Meeting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101600" y="280025"/>
            <a:ext cx="8869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2743200" y="4767263"/>
            <a:ext cx="563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  <p:grpSp>
        <p:nvGrpSpPr>
          <p:cNvPr id="36" name="Google Shape;36;p19"/>
          <p:cNvGrpSpPr/>
          <p:nvPr/>
        </p:nvGrpSpPr>
        <p:grpSpPr>
          <a:xfrm>
            <a:off x="187311" y="828537"/>
            <a:ext cx="1717786" cy="1285720"/>
            <a:chOff x="0" y="1145"/>
            <a:chExt cx="2801" cy="2138"/>
          </a:xfrm>
        </p:grpSpPr>
        <p:pic>
          <p:nvPicPr>
            <p:cNvPr id="37" name="Google Shape;37;p19" descr="magnifier"/>
            <p:cNvPicPr preferRelativeResize="0"/>
            <p:nvPr/>
          </p:nvPicPr>
          <p:blipFill rotWithShape="1">
            <a:blip r:embed="rId2">
              <a:alphaModFix/>
            </a:blip>
            <a:srcRect l="2979" t="9547" r="22515" b="14607"/>
            <a:stretch/>
          </p:blipFill>
          <p:spPr>
            <a:xfrm>
              <a:off x="0" y="1145"/>
              <a:ext cx="2801" cy="21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19"/>
            <p:cNvSpPr/>
            <p:nvPr/>
          </p:nvSpPr>
          <p:spPr>
            <a:xfrm flipH="1">
              <a:off x="875" y="1313"/>
              <a:ext cx="1800" cy="1800"/>
            </a:xfrm>
            <a:prstGeom prst="ellipse">
              <a:avLst/>
            </a:prstGeom>
            <a:gradFill>
              <a:gsLst>
                <a:gs pos="0">
                  <a:srgbClr val="DDDDDD">
                    <a:alpha val="84313"/>
                  </a:srgbClr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9"/>
            <p:cNvSpPr txBox="1"/>
            <p:nvPr/>
          </p:nvSpPr>
          <p:spPr>
            <a:xfrm>
              <a:off x="890" y="1816"/>
              <a:ext cx="18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8E150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br>
                <a:rPr lang="en" sz="1200" b="1" i="0" u="none" strike="noStrike" cap="none">
                  <a:solidFill>
                    <a:srgbClr val="8E15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200" b="1" i="0" u="none" strike="noStrike" cap="none">
                  <a:solidFill>
                    <a:srgbClr val="8E1500"/>
                  </a:solidFill>
                  <a:latin typeface="Arial"/>
                  <a:ea typeface="Arial"/>
                  <a:cs typeface="Arial"/>
                  <a:sym typeface="Arial"/>
                </a:rPr>
                <a:t>Meeting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9"/>
            <p:cNvSpPr/>
            <p:nvPr/>
          </p:nvSpPr>
          <p:spPr>
            <a:xfrm>
              <a:off x="880" y="1304"/>
              <a:ext cx="1800" cy="1800"/>
            </a:xfrm>
            <a:prstGeom prst="ellipse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9"/>
          <p:cNvSpPr txBox="1">
            <a:spLocks noGrp="1"/>
          </p:cNvSpPr>
          <p:nvPr>
            <p:ph type="body" idx="1"/>
          </p:nvPr>
        </p:nvSpPr>
        <p:spPr>
          <a:xfrm>
            <a:off x="2057400" y="923925"/>
            <a:ext cx="6913500" cy="3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2"/>
          </p:nvPr>
        </p:nvSpPr>
        <p:spPr>
          <a:xfrm>
            <a:off x="4572000" y="57150"/>
            <a:ext cx="4398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readcrumb Only">
  <p:cSld name="Breadcrumb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2743200" y="4767263"/>
            <a:ext cx="563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4572000" y="57150"/>
            <a:ext cx="4398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/>
          <p:nvPr/>
        </p:nvSpPr>
        <p:spPr>
          <a:xfrm>
            <a:off x="12" y="0"/>
            <a:ext cx="34908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482600" y="589788"/>
            <a:ext cx="2638200" cy="1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4094238" y="609600"/>
            <a:ext cx="4446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482599" y="2282288"/>
            <a:ext cx="2638200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sz="135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5"/>
              <a:buFont typeface="Arial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5"/>
              <a:buFont typeface="Arial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5"/>
              <a:buFont typeface="Arial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5"/>
              <a:buFont typeface="Arial"/>
              <a:buNone/>
              <a:defRPr sz="675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482598" y="4834890"/>
            <a:ext cx="263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94238" y="4834890"/>
            <a:ext cx="40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 rot="10800000" flipH="1">
            <a:off x="0" y="4705369"/>
            <a:ext cx="9144000" cy="444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7;p14"/>
          <p:cNvCxnSpPr/>
          <p:nvPr/>
        </p:nvCxnSpPr>
        <p:spPr>
          <a:xfrm>
            <a:off x="101600" y="247386"/>
            <a:ext cx="88698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8;p14"/>
          <p:cNvSpPr txBox="1">
            <a:spLocks noGrp="1"/>
          </p:cNvSpPr>
          <p:nvPr>
            <p:ph type="title"/>
          </p:nvPr>
        </p:nvSpPr>
        <p:spPr>
          <a:xfrm>
            <a:off x="101600" y="280025"/>
            <a:ext cx="8869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2743200" y="4767263"/>
            <a:ext cx="563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458200" y="4767263"/>
            <a:ext cx="513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101600" y="895350"/>
            <a:ext cx="88698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71121" y="4678452"/>
            <a:ext cx="2844938" cy="47548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5138928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chicago_se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5087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57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UNIVERSITY OF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Helvetica Neue"/>
              </a:rPr>
              <a:t>MS in Applied Data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46120"/>
            <a:ext cx="914400" cy="18288"/>
          </a:xfrm>
          <a:prstGeom prst="rect">
            <a:avLst/>
          </a:prstGeom>
          <a:solidFill>
            <a:srgbClr val="9B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Capstone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Helvetica Neue"/>
              </a:rPr>
              <a:t>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00584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3A"/>
                </a:solidFill>
                <a:latin typeface="Helvetica Neue"/>
              </a:rPr>
              <a:t>Personalized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3A"/>
                </a:solidFill>
                <a:latin typeface="Helvetica Neue"/>
              </a:rPr>
              <a:t>Recommendation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4A78A5"/>
                </a:solidFill>
                <a:latin typeface="Helvetica Neue"/>
              </a:rPr>
              <a:t>for ChicagoDoes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82296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374151"/>
                </a:solidFill>
                <a:latin typeface="Helvetica Neue"/>
              </a:rPr>
              <a:t>Leveraging User Interaction Data to 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54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374151"/>
                </a:solidFill>
                <a:latin typeface="Helvetica Neue"/>
              </a:rPr>
              <a:t>Engagement and Discovery on a Chicago Tourism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7763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D1B2A"/>
                </a:solidFill>
                <a:latin typeface="Helvetica Neue"/>
              </a:rPr>
              <a:t>Yiou Wang  ·  RJ Xia  ·  Kennedy Damtse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97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7280"/>
                </a:solidFill>
                <a:latin typeface="Helvetica Neue"/>
              </a:rPr>
              <a:t>Client: Ateema / ChicagoDoes Interactive Video 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72000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6B7280"/>
                </a:solidFill>
                <a:latin typeface="Helvetica Neue"/>
              </a:rPr>
              <a:t>Supervisor: </a:t>
            </a:r>
            <a:r>
              <a:rPr lang="en-US" sz="1100" b="0" i="0" dirty="0">
                <a:solidFill>
                  <a:srgbClr val="6B7280"/>
                </a:solidFill>
                <a:latin typeface="Helvetica Neue"/>
              </a:rPr>
              <a:t>Sanjay Boddhu</a:t>
            </a:r>
            <a:endParaRPr sz="1100" b="0" i="0" dirty="0">
              <a:solidFill>
                <a:srgbClr val="6B7280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2 / 18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051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Introduction &amp; Situational 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3246120" y="1051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Business Problem &amp; Opportunity</a:t>
            </a:r>
          </a:p>
        </p:txBody>
      </p:sp>
      <p:sp>
        <p:nvSpPr>
          <p:cNvPr id="12" name="Oval 11"/>
          <p:cNvSpPr/>
          <p:nvPr/>
        </p:nvSpPr>
        <p:spPr>
          <a:xfrm>
            <a:off x="6080760" y="1051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Goals of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194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40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Deliverables</a:t>
            </a:r>
          </a:p>
        </p:txBody>
      </p:sp>
      <p:sp>
        <p:nvSpPr>
          <p:cNvPr id="16" name="Oval 15"/>
          <p:cNvSpPr/>
          <p:nvPr/>
        </p:nvSpPr>
        <p:spPr>
          <a:xfrm>
            <a:off x="3246120" y="2194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240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Literature 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2194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40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Data: Issues &amp; EDA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337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83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Analysis Plan &amp; Methodology</a:t>
            </a:r>
          </a:p>
        </p:txBody>
      </p:sp>
      <p:sp>
        <p:nvSpPr>
          <p:cNvPr id="22" name="Oval 21"/>
          <p:cNvSpPr/>
          <p:nvPr/>
        </p:nvSpPr>
        <p:spPr>
          <a:xfrm>
            <a:off x="3246120" y="3337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83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Model Evaluation Methodology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3337560"/>
            <a:ext cx="502920" cy="50292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Expected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1. Introduction &amp; Situational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ChicagoDoes is an interactive Chicago discovery map operated by Ateema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4069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7"/>
            <a:ext cx="3794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The Product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Interactive video map of 400+ Chicago restaurants, attractions, bars, museums, parks, theaters, and venues. Mapme-backed; reached via tourism campaigns and partner QR codes.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25880"/>
            <a:ext cx="4069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435607"/>
            <a:ext cx="3794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The Audience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Tourists and locals planning city activities. Behaviorally short-session: over half of users click only 1-2 listings per session before leaving.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71800"/>
            <a:ext cx="4069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81528"/>
            <a:ext cx="3794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274972"/>
                </a:solidFill>
                <a:latin typeface="Helvetica Neue"/>
              </a:rPr>
              <a:t>The Business Model</a:t>
            </a:r>
          </a:p>
          <a:p>
            <a:r>
              <a:rPr sz="1100" dirty="0">
                <a:solidFill>
                  <a:srgbClr val="374151"/>
                </a:solidFill>
                <a:latin typeface="Helvetica Neue"/>
              </a:rPr>
              <a:t>Paying business partners purchase placement, CTA links, and featured marketing assets. Engagement drives partner ROI and platform retention.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971800"/>
            <a:ext cx="4069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2971800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3081528"/>
            <a:ext cx="3794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The Telemetry Gap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GA4 captures rich event signals (marker clicks, filters, dwell, CTA) — but the surface is fully generic. No event is operationalized into ranking.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1B2A3A"/>
                </a:solidFill>
                <a:latin typeface="Helvetica Neue"/>
              </a:rPr>
              <a:t>Current </a:t>
            </a:r>
            <a:r>
              <a:rPr sz="2200" b="1" i="0" dirty="0" err="1">
                <a:solidFill>
                  <a:srgbClr val="1B2A3A"/>
                </a:solidFill>
                <a:latin typeface="Helvetica Neue"/>
              </a:rPr>
              <a:t>ChicagoDoes</a:t>
            </a:r>
            <a:r>
              <a:rPr sz="2200" b="1" i="0" dirty="0">
                <a:solidFill>
                  <a:srgbClr val="1B2A3A"/>
                </a:solidFill>
                <a:latin typeface="Helvetica Neue"/>
              </a:rPr>
              <a:t>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The map every visitor lands on today — a single generic surface</a:t>
            </a:r>
          </a:p>
        </p:txBody>
      </p:sp>
      <p:pic>
        <p:nvPicPr>
          <p:cNvPr id="9" name="Picture 8" descr="chicagodoe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760720" cy="3251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1325880"/>
            <a:ext cx="5760720" cy="325165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4623256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7280"/>
                </a:solidFill>
                <a:latin typeface="Helvetica Neue"/>
              </a:rPr>
              <a:t>Live screenshot of chicagodoes.com  ·  the recommender layer is what is missing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74972"/>
                </a:solidFill>
                <a:latin typeface="Helvetica Neue"/>
              </a:rPr>
              <a:t>What every visitor sees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1764792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10 fixed categories in the sidebar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221992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Same default zoom &amp; extent for all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679192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No personalized ranking — markers density-based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136392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No re-entry memory across visits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593592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Partner CTAs visible only after a marker click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4050791"/>
            <a:ext cx="82296" cy="82296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39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Search by keyword or category icon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2. Business Problem &amp;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Every visitor sees the same generic map, leaving discovery and partner ROI on the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4160520" cy="3291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B73A29"/>
                </a:solidFill>
                <a:latin typeface="Helvetica Neue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Identical experience for every visitor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15% of map-loaders click any listing 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Most users browse only 1–2 listings per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No personalization layer ingests GA4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Partner CTAs reach mismatched audiences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Each empty session loses retention + the chance to build a behavioral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4160520" cy="3291840"/>
          </a:xfrm>
          <a:prstGeom prst="roundRect">
            <a:avLst>
              <a:gd name="adj" fmla="val 4000"/>
            </a:avLst>
          </a:prstGeom>
          <a:solidFill>
            <a:srgbClr val="E6F1E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6B4A"/>
                </a:solidFill>
                <a:latin typeface="Helvetica Neue"/>
              </a:rP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3A"/>
                </a:solidFill>
                <a:latin typeface="Helvetica Neue"/>
              </a:rPr>
              <a:t>Convert telemetry into personalization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Translate GA4 events into ranking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697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Close the content-discovery gap for visitors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108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Increase partner CTA reach to matched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520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Build a longitudinal behavioral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74151"/>
                </a:solidFill>
                <a:latin typeface="Helvetica Neue"/>
              </a:rPr>
              <a:t>• Establish data infrastructure for future personalization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3. Goals of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Seven concrete objectives spanning data engineering, modeling, and validation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1325880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07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Warehouse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Translate raw GA4 logs into a layered, queryable warehouse of user–location interactions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325880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307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58191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Engineer leakage-safe predictive features at user and location levels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2194560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Hybrid Ranker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50591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Combine content similarity, item/user CF, session co-visit, transitions, trending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Cold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450591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Handle anonymous visitors via onboarding form + K-Means behavioral archetypes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" y="3063239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449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1927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Apply MMR re-ranking so top-K lists are not category-homogeneous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3063239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0449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Web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31927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Ship full-stack FastAPI + JS app exposing evidence behind every recommendation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" y="3931920"/>
            <a:ext cx="457200" cy="457200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13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B2A3A"/>
                </a:solidFill>
                <a:latin typeface="Helvetica Neue"/>
              </a:rPr>
              <a:t>Evaluation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8795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Specify offline (Precision@K, NDCG, coverage) + online A/B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4.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What the client receives at the end of the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BigQuery Warehouse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7-layer pipeline: raw GA4 → qualified events → user–location features → candidate set. Decouples user-anonymous priors from per-user behavior to enforce leakage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280160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280160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38988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Hybrid Recommender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Six-signal ranking engine (content + popularity + item CF + user kNN + trending + session/transition) with regime-aware weights for new vs. returning visitors.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14600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62432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Web Application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FastAPI backend + JS frontend with evidence-backed recommendation cards (distinct users, dwell, trending) and an LLM concierge layer for itinerary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514600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2514600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62432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Cold-Start System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Onboarding form → TF-IDF pseudo-profile + K-Means archetype (Foodie Wanderer, Sightseeing Explorer, etc.). Seeds collaborative scoring for anonymous visitors.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39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5876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Evaluation Methodology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Documented offline plan (Precision@K, Recall@K, NDCG, coverage, diversity, MAP) + online A/B (CTR, conversion, return-visit) ready for deployment.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749039"/>
            <a:ext cx="4069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749039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858768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Code &amp; Documentation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End-to-end repository (warehouse SQL, backend Python, frontend JS) with module READMEs and a 35-page capstone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5. Literature Review — Foundations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Core recommender-systems theory underpinning our scoring blend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845820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73152" cy="1078992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2064" y="1371600"/>
            <a:ext cx="292608" cy="292608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35024"/>
            <a:ext cx="465201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Implicit-Feedback Collaborative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0690" y="1353312"/>
            <a:ext cx="32575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Hu, Koren &amp; Volinsky (2008)  ·  Koren, Bell &amp; Volinsky (2009)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1609343"/>
            <a:ext cx="7818120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1682495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664207"/>
            <a:ext cx="7360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74151"/>
                </a:solidFill>
                <a:latin typeface="Helvetica Neue"/>
              </a:rPr>
              <a:t>Treat clicks / dwell as confidence-weighted positive signals; matrix factorization with confidence is the canonical implicit-feedback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949135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Our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1930847"/>
            <a:ext cx="7360920" cy="36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D1B2A"/>
                </a:solidFill>
                <a:latin typeface="Helvetica Neue"/>
              </a:rPr>
              <a:t>Foundation for our item–item and user–user CF terms. We use confidence-weighted co-occurrence (sparse Jaccard) rather than full MF, because the GA4 export is short and the catalog is small (~400 locations).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32304"/>
            <a:ext cx="845820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432304"/>
            <a:ext cx="73152" cy="1078992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12064" y="2523744"/>
            <a:ext cx="292608" cy="292608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487168"/>
            <a:ext cx="465201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Content-Based Methods &amp; TF-IDF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0690" y="2505456"/>
            <a:ext cx="32575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Salton &amp; Buckley (1988)  ·  Pazzani &amp; Billsus (2007)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2761488"/>
            <a:ext cx="7818120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28346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2816352"/>
            <a:ext cx="7360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74151"/>
                </a:solidFill>
                <a:latin typeface="Helvetica Neue"/>
              </a:rPr>
              <a:t>Item attributes vectorized via TF-IDF + cosine similarity outperform raw category matching on sparse catalogs.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101279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Our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3082991"/>
            <a:ext cx="7360920" cy="36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D1B2A"/>
                </a:solidFill>
                <a:latin typeface="Helvetica Neue"/>
              </a:rPr>
              <a:t>We TF-IDF-vectorize each location's category tokens, then compute cosine similarity to a TF-IDF user profile (history-weighted). This is also the backbone of the cold-start pseudo-profile.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584448"/>
            <a:ext cx="845820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584448"/>
            <a:ext cx="73152" cy="1078992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12064" y="3675887"/>
            <a:ext cx="292608" cy="292608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639312"/>
            <a:ext cx="465201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Hybrid Recommenders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0690" y="3657600"/>
            <a:ext cx="325755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Burke (2002)  ·  Çano &amp; Morisio (2017)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13632"/>
            <a:ext cx="7818120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986784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3968496"/>
            <a:ext cx="7360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374151"/>
                </a:solidFill>
                <a:latin typeface="Helvetica Neue"/>
              </a:rPr>
              <a:t>A weighted/switching hybrid of content + CF empirically dominates either paradigm alone on sparse, implicit-feedback data — the regime where ChicagoDoes operates.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253423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Our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4235135"/>
            <a:ext cx="7360920" cy="36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D1B2A"/>
                </a:solidFill>
                <a:latin typeface="Helvetica Neue"/>
              </a:rPr>
              <a:t>Directly motivates our six-signal weighted blend, with different weight vectors for new-visitor vs. returning-user regimes to handle the cold-start↔warm-start transition.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5. Literature Review — Applied &amp; Domain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Session, diversification, tourism, and LLM literature shaping the deployment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416052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73152" cy="1691640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2064" y="1371600"/>
            <a:ext cx="292608" cy="292608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3502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Session-Aware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57276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Hidasi et al. (2016)  ·  Quadrana et al. (2018)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1810512"/>
            <a:ext cx="3520439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1828800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002536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374151"/>
                </a:solidFill>
                <a:latin typeface="Helvetica Neue"/>
              </a:rPr>
              <a:t>Anonymous, short-session traffic still carries in-session intent — captured via co-visit graphs and previous→next transition 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404872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Our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569464"/>
            <a:ext cx="383133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0D1B2A"/>
                </a:solidFill>
                <a:latin typeface="Helvetica Neue"/>
              </a:rPr>
              <a:t>Same-session Jaccard (0.6) + transition probability (0.4). Crucial since &gt;50% of ChicagoDoes traffic is single-session.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280160"/>
            <a:ext cx="416052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1280160"/>
            <a:ext cx="73152" cy="1691640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09744" y="1371600"/>
            <a:ext cx="292608" cy="292608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33502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Diversity — Maximal Marginal Relevance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57276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Carbonell &amp; Goldstein (1998)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1810512"/>
            <a:ext cx="3520439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1828800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002536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374151"/>
                </a:solidFill>
                <a:latin typeface="Helvetica Neue"/>
              </a:rPr>
              <a:t>Relevance-only top-K lists become category-homogeneous; MMR re-ranks by trading λ relevance vs. (1−λ) novelty.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2404872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Our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2569464"/>
            <a:ext cx="383133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0D1B2A"/>
                </a:solidFill>
                <a:latin typeface="Helvetica Neue"/>
              </a:rPr>
              <a:t>Applied at λ = 0.7 over the top-60 candidates — prevents the 'eight bars in a row' failure mode in baseline runs.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063240"/>
            <a:ext cx="416052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063240"/>
            <a:ext cx="73152" cy="1691640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12064" y="3154680"/>
            <a:ext cx="292608" cy="292608"/>
          </a:xfrm>
          <a:prstGeom prst="ellipse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11810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Tourism RS &amp; Cold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35584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Borrás et al. (2014)  ·  Gavalas et al. (2014)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593592"/>
            <a:ext cx="3520439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611880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3785616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374151"/>
                </a:solidFill>
                <a:latin typeface="Helvetica Neue"/>
              </a:rPr>
              <a:t>Tourism is dominated by cold-start anonymous visitors; standard recipe = lightweight onboarding form + behavioral segmentation.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187952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274972"/>
                </a:solidFill>
                <a:latin typeface="Helvetica Neue"/>
              </a:rPr>
              <a:t>Our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4352544"/>
            <a:ext cx="383133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0D1B2A"/>
                </a:solidFill>
                <a:latin typeface="Helvetica Neue"/>
              </a:rPr>
              <a:t>Onboarding form → TF-IDF pseudo-profile + K-Means archetype (k = 6: Foodie, Sightseer, …) seeding CF for new users.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3063240"/>
            <a:ext cx="416052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63440" y="3063240"/>
            <a:ext cx="73152" cy="1691640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809744" y="3154680"/>
            <a:ext cx="292608" cy="292608"/>
          </a:xfrm>
          <a:prstGeom prst="ellipse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3118104"/>
            <a:ext cx="3520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B2A3A"/>
                </a:solidFill>
                <a:latin typeface="Helvetica Neue"/>
              </a:rPr>
              <a:t>LLMs as Presentation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35584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Helvetica Neue"/>
              </a:rPr>
              <a:t>Lewis et al. (2020)  ·  Wu et al. (2024)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3593592"/>
            <a:ext cx="3520439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28032" y="3611880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3785616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374151"/>
                </a:solidFill>
                <a:latin typeface="Helvetica Neue"/>
              </a:rPr>
              <a:t>LLMs perform best when ranking is deterministic and the LLM only narrates / re-orders within a small retrieved pool (RAG pattern).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8032" y="4187952"/>
            <a:ext cx="38313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78A5"/>
                </a:solidFill>
                <a:latin typeface="Helvetica Neue"/>
              </a:rPr>
              <a:t>Our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4352544"/>
            <a:ext cx="383133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0D1B2A"/>
                </a:solidFill>
                <a:latin typeface="Helvetica Neue"/>
              </a:rPr>
              <a:t>ChicagoDoes 'concierge': deterministic hybrid produces the pool; LLM writes copy + ordering — never invents locations.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6. Data: Sources &amp;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A78A5"/>
                </a:solidFill>
                <a:latin typeface="Helvetica Neue"/>
              </a:rPr>
              <a:t>GA4 event stream + canonical dimensions, layered into 7 warehouse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74972"/>
                </a:solidFill>
                <a:latin typeface="Helvetica Neue"/>
              </a:rPr>
              <a:t>DATA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GA4 Daily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74151"/>
                </a:solidFill>
                <a:latin typeface="Helvetica Neue"/>
              </a:rPr>
              <a:t>events_YYYYMMDD + events_intraday tables in BigQuery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048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Location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04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74151"/>
                </a:solidFill>
                <a:latin typeface="Helvetica Neue"/>
              </a:rPr>
              <a:t>Official Mapme / Ateema location &amp; category lists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1810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Crawler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74151"/>
                </a:solidFill>
                <a:latin typeface="Helvetica Neue"/>
              </a:rPr>
              <a:t>Cleaned location × category mapping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3133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Engagement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3133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74151"/>
                </a:solidFill>
                <a:latin typeface="Helvetica Neue"/>
              </a:rPr>
              <a:t>Strong / weak / nav / noise event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B73A29"/>
                </a:solidFill>
                <a:latin typeface="Helvetica Neue"/>
              </a:rPr>
              <a:t>KNOWN DATA 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6916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Implicit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916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No star ratings or post-visit feedback exist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1488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Short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488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Only a few weeks of GA4 export — no annual seasonality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6060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Anonymous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6060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Most visitors single-session; no demographics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0632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Conversion blind spot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0632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Once user clicks off the map, downstream events are not observable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5204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Sparse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5204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Locations carry categories but few free-text descriptions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977639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B7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Leakage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977639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Aggregated user features could leak labels → isolated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6. EDA — Engagement Is Shallow &amp; Heavy-Tailed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4A78A5"/>
                </a:solidFill>
                <a:latin typeface="Helvetica Neue"/>
              </a:rPr>
              <a:t>Funnel drops sharply at first marker click; most users click only 1–2 listings</a:t>
            </a:r>
          </a:p>
        </p:txBody>
      </p:sp>
      <p:pic>
        <p:nvPicPr>
          <p:cNvPr id="9" name="Picture 8" descr="fig_engagemen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297680" cy="2563833"/>
          </a:xfrm>
          <a:prstGeom prst="rect">
            <a:avLst/>
          </a:prstGeom>
        </p:spPr>
      </p:pic>
      <p:pic>
        <p:nvPicPr>
          <p:cNvPr id="10" name="Picture 9" descr="fig_behavior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54480"/>
            <a:ext cx="4389120" cy="13526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4343400"/>
            <a:ext cx="8458200" cy="45720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74972"/>
                </a:solidFill>
                <a:latin typeface="Helvetica Neue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7083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Only 15% of map-loaders click a marker and &gt;50% click ≤2 listings per session — the recommender must front-load the most relevant places in the first two impressions.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6. EDA — Repeat-Driven Popularity &amp; Multi-Intent Visitors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4A78A5"/>
                </a:solidFill>
                <a:latin typeface="Helvetica Neue"/>
              </a:rPr>
              <a:t>Same listings dominate by total clicks vs. unique users; first-click entry points are diverse</a:t>
            </a:r>
          </a:p>
        </p:txBody>
      </p:sp>
      <p:pic>
        <p:nvPicPr>
          <p:cNvPr id="9" name="Picture 8" descr="fig_listing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937760" cy="2179235"/>
          </a:xfrm>
          <a:prstGeom prst="rect">
            <a:avLst/>
          </a:prstGeom>
        </p:spPr>
      </p:pic>
      <p:pic>
        <p:nvPicPr>
          <p:cNvPr id="10" name="Picture 9" descr="fig_entry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280160"/>
            <a:ext cx="3657600" cy="21819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4343400"/>
            <a:ext cx="8458200" cy="45720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74972"/>
                </a:solidFill>
                <a:latin typeface="Helvetica Neue"/>
              </a:rPr>
              <a:t>Design implications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37083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Popularity must be computed per distinct user (not raw clicks) — and entry-point heterogeneity justifies segmenting visitors into K-Means behavioral archetypes.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7. Analysis Plan —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Layered warehouse → six-signal hybrid ranker → MMR diversification → web app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995" y="1280160"/>
            <a:ext cx="5550008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 Neue"/>
              </a:rPr>
              <a:t>Each ranking signal is leakage-safe (user-anonymous priors decoupled from per-user behavior)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7. Modeling Framework — Six-Signal Score Blend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Each location scored on six normalized signals; weights switch by user regime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74972"/>
                </a:solidFill>
                <a:latin typeface="Helvetica Neue"/>
              </a:rPr>
              <a:t>Six scoring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27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Content sim.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276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TF-IDF cosine between user profile and location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305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Popularity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3055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Distinct-user-based prior; leakage-safe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334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Item–item 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33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Sparse Jaccard between locations engaged by overlapping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363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User–user 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363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Top-5 nearest users by category-share cosine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393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Trending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393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Recent vs. early-window event ratio per 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422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Session/transit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1422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Same-session Jaccard (0.6) + previous→next transition (0.4)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3258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74972"/>
                </a:solidFill>
                <a:latin typeface="Helvetica Neue"/>
              </a:rPr>
              <a:t>Weights by user regime</a:t>
            </a:r>
          </a:p>
        </p:txBody>
      </p:sp>
      <p:pic>
        <p:nvPicPr>
          <p:cNvPr id="23" name="Picture 22" descr="score_bl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27632"/>
            <a:ext cx="384048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7. Algorithm Detail — Scoring &amp; Re-Ranking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Composite location score, signal computations, and MMR diversification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8458200" cy="868680"/>
          </a:xfrm>
          <a:prstGeom prst="roundRect">
            <a:avLst>
              <a:gd name="adj" fmla="val 8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CBD5E1"/>
                </a:solidFill>
                <a:latin typeface="Helvetica Neue"/>
              </a:rPr>
              <a:t>Composite location score for user u and location ℓ</a:t>
            </a:r>
          </a:p>
        </p:txBody>
      </p:sp>
      <p:pic>
        <p:nvPicPr>
          <p:cNvPr id="11" name="Picture 10" descr="composi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738798"/>
            <a:ext cx="8046720" cy="36288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2331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26974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423160"/>
            <a:ext cx="2478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1B2A3A"/>
                </a:solidFill>
                <a:latin typeface="Helvetica Neue"/>
              </a:rPr>
              <a:t>Content similarity (TF-IDF)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743200"/>
            <a:ext cx="2478024" cy="50292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ontent_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1" y="2805982"/>
            <a:ext cx="2368296" cy="3773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5488" y="3291839"/>
            <a:ext cx="2478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v_u, v_ℓ are L2-normalized TF-IDF vectors over category tokens. v_u is the user's history-weighted average.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331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2331720"/>
            <a:ext cx="26974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423160"/>
            <a:ext cx="2478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1B2A3A"/>
                </a:solidFill>
                <a:latin typeface="Helvetica Neue"/>
              </a:rPr>
              <a:t>Item–item CF (Jaccard)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743200"/>
            <a:ext cx="2478024" cy="50292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tem_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434" y="2775204"/>
            <a:ext cx="1589411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10128" y="3291839"/>
            <a:ext cx="2478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U_i = set of users who engaged location i. Per-user score = max Jaccard against history. Sparse and leakage-safe.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331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2331720"/>
            <a:ext cx="26974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4768" y="2423160"/>
            <a:ext cx="2478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1B2A3A"/>
                </a:solidFill>
                <a:latin typeface="Helvetica Neue"/>
              </a:rPr>
              <a:t>Trending (recency lift)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2743200"/>
            <a:ext cx="2478024" cy="50292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713" y="2775204"/>
            <a:ext cx="1324133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44768" y="3291839"/>
            <a:ext cx="24780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Recent vs. early strong-event rates per location. Min-max normalized to [0,1] across the catalog.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931920"/>
            <a:ext cx="8458200" cy="8686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4A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97763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274972"/>
                </a:solidFill>
                <a:latin typeface="Helvetica Neue"/>
              </a:rPr>
              <a:t>MMR diversification (λ = 0.7) — applied to top-60 candidates</a:t>
            </a:r>
          </a:p>
        </p:txBody>
      </p:sp>
      <p:pic>
        <p:nvPicPr>
          <p:cNvPr id="32" name="Picture 31" descr="mm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8804" y="4247388"/>
            <a:ext cx="540639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" y="475488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374151"/>
                </a:solidFill>
                <a:latin typeface="Helvetica Neue"/>
              </a:rPr>
              <a:t>S = items already in the result list  ·  70% relevance, 30% novelty vs. already-picked items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7. Cold Start + Diversity Re-Ranking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Form-derived pseudo-profile + K-Means archetypes, then MMR diversifies the top-K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74972"/>
                </a:solidFill>
                <a:latin typeface="Helvetica Neue"/>
              </a:rPr>
              <a:t>Cold-start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27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Onboarding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276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Interests, traveler type, vibe → mapped to category weights via lookup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408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TF-IDF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340864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Form weights projected into the same TF-IDF space as locations → pseudo-profile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5409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K-Means archetype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5409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k=6 segments: Foodie Wanderer, Sightseeing Explorer, Cultural Enthusiast,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673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Seed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6732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374151"/>
                </a:solidFill>
                <a:latin typeface="Helvetica Neue"/>
              </a:rPr>
              <a:t>Archetype-popular locations seed the item–item CF score for cold-start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280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74972"/>
                </a:solidFill>
                <a:latin typeface="Helvetica Neue"/>
              </a:rPr>
              <a:t>MMR diversification (λ = 0.7)</a:t>
            </a:r>
          </a:p>
        </p:txBody>
      </p:sp>
      <p:pic>
        <p:nvPicPr>
          <p:cNvPr id="19" name="Picture 18" descr="mm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27632"/>
            <a:ext cx="4023360" cy="17649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776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374151"/>
                </a:solidFill>
                <a:latin typeface="Helvetica Neue"/>
              </a:rPr>
              <a:t>70% relevance + 30% distance from already-picked items → re-shuffles homogeneous top-K lists without dropping the relevance leader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8. Model Evaluation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Offline + online + assumption checks — scoped for the next deployment 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7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Offline Holdout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Leave-last-N per user; time-stratified split since trending and session signals are time-aware. Train on remaining 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25880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435607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Ranking Metrics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Precision@K, Recall@K, Hit Rate@K, NDCG@K, MAP at K ∈ {5, 10, 20}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87168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487168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596896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List Quality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Catalog coverage, intra-list cosine diversity (w/ vs w/o MMR), novelty, category entropy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487168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2487168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596896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Baselines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(i) Global popularity  (ii) Random within interest  (iii) Content-only TF-IDF  (iv) Item–item CF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48456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648456"/>
            <a:ext cx="4069080" cy="54864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758184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74972"/>
                </a:solidFill>
                <a:latin typeface="Helvetica Neue"/>
              </a:rPr>
              <a:t>Ablations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Remove each scoring term in turn → quantify marginal contribution; re-tune regime weights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648456"/>
            <a:ext cx="4069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648456"/>
            <a:ext cx="4069080" cy="54864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758184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A78A5"/>
                </a:solidFill>
                <a:latin typeface="Helvetica Neue"/>
              </a:rPr>
              <a:t>Online A/B</a:t>
            </a:r>
          </a:p>
          <a:p>
            <a:r>
              <a:rPr sz="1100">
                <a:solidFill>
                  <a:srgbClr val="374151"/>
                </a:solidFill>
                <a:latin typeface="Helvetica Neue"/>
              </a:rPr>
              <a:t>Behind feature flag: locations/session, CTR, dwell, CTA conversions, return-visit rate, partner-side impressions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2A3A"/>
                </a:solidFill>
                <a:latin typeface="Helvetica Neue"/>
              </a:rPr>
              <a:t>9. Expected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548640" cy="36576"/>
          </a:xfrm>
          <a:prstGeom prst="rect">
            <a:avLst/>
          </a:prstGeom>
          <a:solidFill>
            <a:srgbClr val="4A7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B7280"/>
                </a:solidFill>
                <a:latin typeface="Helvetica Neue"/>
              </a:rPr>
              <a:t>ChicagoDoes Capstone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Helvetica Neue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4A78A5"/>
                </a:solidFill>
                <a:latin typeface="Helvetica Neue"/>
              </a:rPr>
              <a:t>Mapped to the planned baselines + observed in design-validation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32588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Expectation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3258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Reasoning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73351"/>
            <a:ext cx="8458200" cy="45720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Precision@K, NDCG@K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09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Hybrid &gt; content-only &gt; collab-only &gt; popularity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709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Content backstop + CF refinement in same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85415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Hit Rate@K (cold-start)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85415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Hybrid ≈ popularity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85415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Popularity is a strong baseline for new 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24328"/>
            <a:ext cx="8458200" cy="45720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66090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Intra-list diversity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6090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Hybrid + MMR ≫ Hybrid w/o MMR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609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MMR explicitly trades 30% relevance for 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36391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Catalog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363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Hybrid ≫ popularity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13639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CF + content surface the long 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75304"/>
            <a:ext cx="8458200" cy="457200"/>
          </a:xfrm>
          <a:prstGeom prst="rect">
            <a:avLst/>
          </a:prstGeom>
          <a:solidFill>
            <a:srgbClr val="E6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Engagement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Top-K Jaccard ≥ 0.7 across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Filter removes noise without destroying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873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B2A3A"/>
                </a:solidFill>
                <a:latin typeface="Helvetica Neue"/>
              </a:rPr>
              <a:t>Online CTR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0873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D1B2A"/>
                </a:solidFill>
                <a:latin typeface="Helvetica Neue"/>
              </a:rPr>
              <a:t>Personalization wins, partner CTA clicks lift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0873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74151"/>
                </a:solidFill>
                <a:latin typeface="Helvetica Neue"/>
              </a:rPr>
              <a:t>Standard uplift pattern in DMO / tourism literature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27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0370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Helvetica Neu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hicago ">
  <a:themeElements>
    <a:clrScheme name="UChicago">
      <a:dk1>
        <a:srgbClr val="800000"/>
      </a:dk1>
      <a:lt1>
        <a:srgbClr val="FFFFFF"/>
      </a:lt1>
      <a:dk2>
        <a:srgbClr val="110E0E"/>
      </a:dk2>
      <a:lt2>
        <a:srgbClr val="EAEAEA"/>
      </a:lt2>
      <a:accent1>
        <a:srgbClr val="800000"/>
      </a:accent1>
      <a:accent2>
        <a:srgbClr val="F8A429"/>
      </a:accent2>
      <a:accent3>
        <a:srgbClr val="C16622"/>
      </a:accent3>
      <a:accent4>
        <a:srgbClr val="91AB5A"/>
      </a:accent4>
      <a:accent5>
        <a:srgbClr val="58593F"/>
      </a:accent5>
      <a:accent6>
        <a:srgbClr val="155F83"/>
      </a:accent6>
      <a:hlink>
        <a:srgbClr val="800000"/>
      </a:hlink>
      <a:folHlink>
        <a:srgbClr val="BA7B7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2260</Words>
  <Application>Microsoft Macintosh PowerPoint</Application>
  <PresentationFormat>全屏显示(16:9)</PresentationFormat>
  <Paragraphs>304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Helvetica Neue</vt:lpstr>
      <vt:lpstr>UChicago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Austin Wang</cp:lastModifiedBy>
  <cp:revision>1</cp:revision>
  <dcterms:modified xsi:type="dcterms:W3CDTF">2026-05-25T01:32:50Z</dcterms:modified>
</cp:coreProperties>
</file>